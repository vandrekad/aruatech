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164592" cy="17373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196596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B1D1C9"/>
                </a:solidFill>
                <a:latin typeface="DM Sans"/>
              </a:rPr>
              <a:t>ARUATECH · USV-AM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DM Sans"/>
              </a:rPr>
              <a:t>Adequacao ao Raspberry Pi</a:t>
            </a:r>
          </a:p>
          <a:p>
            <a:pPr algn="l">
              <a:spcAft>
                <a:spcPts val="0"/>
              </a:spcAft>
            </a:pPr>
            <a:r>
              <a:rPr sz="2000" b="0">
                <a:solidFill>
                  <a:srgbClr val="E2E8F0"/>
                </a:solidFill>
                <a:latin typeface="DM Sans"/>
              </a:rPr>
              <a:t>Arquitetura hibrida RPi 4 + ESP32 para navegacao fluvial autonoma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6355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DM Sans"/>
              </a:rPr>
              <a:t>Veiculo Fluvial Nao Tripulado · Amazonia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2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1D1C9"/>
                </a:solidFill>
                <a:latin typeface="DM Sans"/>
              </a:rPr>
              <a:t>POR QUE HIBRIDO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DM Sans"/>
              </a:rPr>
              <a:t>O que motivou a escolha RPi 4 + ESP32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334155"/>
                </a:solidFill>
                <a:latin typeface="DM Sans"/>
              </a:rPr>
              <a:t>Um so cerebro nao atende os dois regimes do projeto: tempo real duro e computacao rica. A divisao resolve a tensao.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5029200" cy="3840480"/>
          </a:xfrm>
          <a:prstGeom prst="rect">
            <a:avLst/>
          </a:prstGeom>
          <a:solidFill>
            <a:srgbClr val="B1D1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23043"/>
                </a:solidFill>
                <a:latin typeface="DM Sans"/>
              </a:rPr>
              <a:t>ESP32 sozinho nao bastava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023043"/>
                </a:solidFill>
                <a:latin typeface="DM Sans"/>
              </a:rPr>
              <a:t>•  Sem folga de CPU/RAM para visao, rotas ricas e nuvem.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23043"/>
                </a:solidFill>
                <a:latin typeface="DM Sans"/>
              </a:rPr>
              <a:t>•  Pilha WiFi/TLS competindo com o loop de controle.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023043"/>
                </a:solidFill>
                <a:latin typeface="DM Sans"/>
              </a:rPr>
              <a:t>•  Dificil evoluir para 4G, camera e logica de missao.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286000"/>
            <a:ext cx="5029200" cy="3840480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DM Sans"/>
              </a:rPr>
              <a:t>RPi 4 sozinho tambem nao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01752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DM Sans"/>
              </a:rPr>
              <a:t>•  Sem GPIO/PWM deterministico: Linux nao e tempo real.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DM Sans"/>
              </a:rPr>
              <a:t>•  Jitter de agendamento arrisca controle de motores.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DM Sans"/>
              </a:rPr>
              <a:t>•  Ponto unico de falha para a autonomia critica.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297897"/>
                </a:solidFill>
                <a:latin typeface="DM Sans"/>
              </a:rPr>
              <a:t>Decisao: cada camada faz o que faz melhor — ESP32 no controle em tempo real, RPi 4 na missao e na nuvem.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2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1D1C9"/>
                </a:solidFill>
                <a:latin typeface="DM Sans"/>
              </a:rPr>
              <a:t>COMO SE FALAM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DM Sans"/>
              </a:rPr>
              <a:t>Conceitos de conexao e comunicacao escolhidos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200400" cy="1463040"/>
          </a:xfrm>
          <a:prstGeom prst="rect">
            <a:avLst/>
          </a:prstGeom>
          <a:solidFill>
            <a:srgbClr val="02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B1D1C9"/>
                </a:solidFill>
                <a:latin typeface="DM Sans"/>
              </a:rPr>
              <a:t>Nuvem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DM Sans"/>
              </a:rPr>
              <a:t>Firebase RTDB + Auth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828800"/>
            <a:ext cx="3200400" cy="1463040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DM Sans"/>
              </a:rPr>
              <a:t>Raspberry Pi 4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DM Sans"/>
              </a:rPr>
              <a:t>Missao, nuvem, daemon Python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828800"/>
            <a:ext cx="3200400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600" b="1">
                <a:solidFill>
                  <a:srgbClr val="023043"/>
                </a:solidFill>
                <a:latin typeface="DM Sans"/>
              </a:rPr>
              <a:t>ESP32</a:t>
            </a:r>
          </a:p>
          <a:p>
            <a:pPr algn="ctr">
              <a:spcAft>
                <a:spcPts val="0"/>
              </a:spcAft>
            </a:pPr>
            <a:r>
              <a:rPr sz="1300" b="0">
                <a:solidFill>
                  <a:srgbClr val="023043"/>
                </a:solidFill>
                <a:latin typeface="DM Sans"/>
              </a:rPr>
              <a:t>Sensores, motores, LOS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34155"/>
                </a:solidFill>
                <a:latin typeface="DM Sans"/>
              </a:rPr>
              <a:t>WiFi / 4G  (internet)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508760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334155"/>
                </a:solidFill>
                <a:latin typeface="DM Sans"/>
              </a:rPr>
              <a:t>UART 115200  (JSON-lines)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50">
                <a:solidFill>
                  <a:srgbClr val="334155"/>
                </a:solidFill>
                <a:latin typeface="DM Sans"/>
              </a:rPr>
              <a:t>•  Enlace fisico RPi&lt;-&gt;ESP32: UART a 115200 bps, 3 fios (TX/RX cruzados + GND comum), 3.3V direto, sem conversor de nivel.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4155"/>
                </a:solidFill>
                <a:latin typeface="DM Sans"/>
              </a:rPr>
              <a:t>•  Protocolo: linhas JSON (JSON-lines) com command_id para deduplicacao — comando processado uma unica vez.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4155"/>
                </a:solidFill>
                <a:latin typeface="DM Sans"/>
              </a:rPr>
              <a:t>•  Sentido nuvem-&gt;veiculo: RPi escuta /command no RTDB e repassa por UART (set_destination, emergency_stop).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4155"/>
                </a:solidFill>
                <a:latin typeface="DM Sans"/>
              </a:rPr>
              <a:t>•  Sentido veiculo-&gt;nuvem: ESP32 envia telemetria/eventos por UART; o daemon do RPi publica em /telemetry, /status, /path, /logs.</a:t>
            </a:r>
          </a:p>
          <a:p>
            <a:pPr>
              <a:spcAft>
                <a:spcPts val="900"/>
              </a:spcAft>
            </a:pPr>
            <a:r>
              <a:rPr sz="1450">
                <a:solidFill>
                  <a:srgbClr val="334155"/>
                </a:solidFill>
                <a:latin typeface="DM Sans"/>
              </a:rPr>
              <a:t>•  Presenca e resiliencia: watchdog do link com reconexao (backoff), heartbeat, e status/online=false no shutdown.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914400"/>
            <a:ext cx="164592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868680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1D1C9"/>
                </a:solidFill>
                <a:latin typeface="DM Sans"/>
              </a:rPr>
              <a:t>INVARIANTE DE PROJETO</a:t>
            </a:r>
          </a:p>
          <a:p>
            <a:pPr algn="l"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DM Sans"/>
              </a:rPr>
              <a:t>Desconectar o RPi deixa o ESP32 navegando sozinho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265176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E2E8F0"/>
                </a:solidFill>
                <a:latin typeface="DM Sans"/>
              </a:rPr>
              <a:t>•  A missao (rota por waypoints, LOS, desvio de obstaculo) roda inteira no ESP32.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2E8F0"/>
                </a:solidFill>
                <a:latin typeface="DM Sans"/>
              </a:rPr>
              <a:t>•  Sem RPi presente, o ESP32 bufferiza telemetria localmente em LittleFS e segue a rota.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2E8F0"/>
                </a:solidFill>
                <a:latin typeface="DM Sans"/>
              </a:rPr>
              <a:t>•  A camada de nuvem existe para monitorar e comandar — nunca para pilotar.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E2E8F0"/>
                </a:solidFill>
                <a:latin typeface="DM Sans"/>
              </a:rPr>
              <a:t>•  Reconexao: o RPi retoma a publicacao e faz flush do buffer, sem perder o historico.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943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B1D1C9"/>
                </a:solidFill>
                <a:latin typeface="DM Sans"/>
              </a:rPr>
              <a:t>Confiabilidade em rios amazonicos com conectividade intermitente.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23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029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1D1C9"/>
                </a:solidFill>
                <a:latin typeface="DM Sans"/>
              </a:rPr>
              <a:t>RESULTADO</a:t>
            </a:r>
          </a:p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DM Sans"/>
              </a:rPr>
              <a:t>Ganhos obtidos com o modelo hibrido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3291840" cy="21488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3291840" cy="109728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3043"/>
                </a:solidFill>
                <a:latin typeface="DM Sans"/>
              </a:rPr>
              <a:t>Tempo real preservado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334155"/>
                </a:solidFill>
                <a:latin typeface="DM Sans"/>
              </a:rPr>
              <a:t>Controle de motores e sensores sem jitter de SO — determinismo do ESP32.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291840" cy="21488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15968" y="1600200"/>
            <a:ext cx="3291840" cy="109728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82880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3043"/>
                </a:solidFill>
                <a:latin typeface="DM Sans"/>
              </a:rPr>
              <a:t>Autonomia garantida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334155"/>
                </a:solidFill>
                <a:latin typeface="DM Sans"/>
              </a:rPr>
              <a:t>Veiculo navega mesmo offline; nuvem e opcional para a missao.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8975" y="1600200"/>
            <a:ext cx="3291840" cy="21488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08975" y="1600200"/>
            <a:ext cx="3291840" cy="109728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5" y="1828800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3043"/>
                </a:solidFill>
                <a:latin typeface="DM Sans"/>
              </a:rPr>
              <a:t>Computacao rica no RPi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334155"/>
                </a:solidFill>
                <a:latin typeface="DM Sans"/>
              </a:rPr>
              <a:t>Espaco para visao, 4G, logica de missao e integracao com Firebase.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977639"/>
            <a:ext cx="3291840" cy="21488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77639"/>
            <a:ext cx="3291840" cy="109728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39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3043"/>
                </a:solidFill>
                <a:latin typeface="DM Sans"/>
              </a:rPr>
              <a:t>Evolucao desacoplada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334155"/>
                </a:solidFill>
                <a:latin typeface="DM Sans"/>
              </a:rPr>
              <a:t>Trocar/atualizar a camada de nuvem sem tocar no firmware critico.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5968" y="3977639"/>
            <a:ext cx="3291840" cy="21488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15968" y="3977639"/>
            <a:ext cx="3291840" cy="109728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4206239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3043"/>
                </a:solidFill>
                <a:latin typeface="DM Sans"/>
              </a:rPr>
              <a:t>Resiliencia de link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334155"/>
                </a:solidFill>
                <a:latin typeface="DM Sans"/>
              </a:rPr>
              <a:t>Watchdog, reconexao com backoff e presenca no RTDB.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08975" y="3977639"/>
            <a:ext cx="3291840" cy="21488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08975" y="3977639"/>
            <a:ext cx="3291840" cy="109728"/>
          </a:xfrm>
          <a:prstGeom prst="rect">
            <a:avLst/>
          </a:prstGeom>
          <a:solidFill>
            <a:srgbClr val="297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1855" y="4206239"/>
            <a:ext cx="292608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23043"/>
                </a:solidFill>
                <a:latin typeface="DM Sans"/>
              </a:rPr>
              <a:t>Custo e reuso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334155"/>
                </a:solidFill>
                <a:latin typeface="DM Sans"/>
              </a:rPr>
              <a:t>Aproveita o ESP32 existente; RPi adiciona capacidade sob demanda.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789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77440"/>
            <a:ext cx="164592" cy="1463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286000"/>
            <a:ext cx="100584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023043"/>
                </a:solidFill>
                <a:latin typeface="DM Sans"/>
              </a:rPr>
              <a:t>ARUATECH · USV-AM</a:t>
            </a:r>
          </a:p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DM Sans"/>
              </a:rPr>
              <a:t>Hibrido por design, autonomo por principio</a:t>
            </a:r>
          </a:p>
          <a:p>
            <a:pPr algn="l">
              <a:spcAft>
                <a:spcPts val="0"/>
              </a:spcAft>
            </a:pPr>
            <a:r>
              <a:rPr sz="1800" b="0">
                <a:solidFill>
                  <a:srgbClr val="023043"/>
                </a:solidFill>
                <a:latin typeface="DM Sans"/>
              </a:rPr>
              <a:t>ESP32 pilota. RPi 4 pensa e conecta. O rio nunca para a missao.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